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67" r:id="rId16"/>
    <p:sldId id="273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67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manask.vinod@gmail.com?subject=Feedback%20on%20Foodbridge%20AI%20Prototype" TargetMode="External"/><Relationship Id="rId2" Type="http://schemas.openxmlformats.org/officeDocument/2006/relationships/hyperlink" Target="https://github.com/TERMINATOR7732/foodbridge-ai.git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05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FoodBridge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A4E8DB"/>
                </a:solidFill>
                <a:latin typeface="Aptos"/>
              </a:rPr>
              <a:t>AI for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0604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Reducing food waste by connecting safe surplus food with community needs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77639"/>
            <a:ext cx="2377440" cy="566928"/>
          </a:xfrm>
          <a:prstGeom prst="roundRect">
            <a:avLst/>
          </a:prstGeom>
          <a:solidFill>
            <a:srgbClr val="149189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SDG 2 • Zero Hunger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3977639"/>
            <a:ext cx="3200400" cy="566928"/>
          </a:xfrm>
          <a:prstGeom prst="roundRect">
            <a:avLst/>
          </a:prstGeom>
          <a:solidFill>
            <a:srgbClr val="41A05A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SDG 12 • Responsible Consumption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977639"/>
            <a:ext cx="2514600" cy="566928"/>
          </a:xfrm>
          <a:prstGeom prst="roundRect">
            <a:avLst/>
          </a:prstGeom>
          <a:solidFill>
            <a:srgbClr val="E88F37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SDG 13 • Climate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CE2"/>
                </a:solidFill>
                <a:latin typeface="Aptos"/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01675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DDCE2"/>
                </a:solidFill>
                <a:latin typeface="Aptos"/>
              </a:rPr>
              <a:t>FoodBridge AI  |  React + TypeScript + Vite  |  IBM BOB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1. The 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Food waste and food insecurity exist at the same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4800600" cy="64008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1F2D37"/>
                </a:solidFill>
                <a:latin typeface="Aptos"/>
              </a:rPr>
              <a:t>Food surplus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417320"/>
            <a:ext cx="4800600" cy="64008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1F2D37"/>
                </a:solidFill>
                <a:latin typeface="Aptos"/>
              </a:rPr>
              <a:t>Community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Restaurants, homes and events may have edible surplus</a:t>
            </a:r>
          </a:p>
          <a:p>
            <a:pPr>
              <a:spcAft>
                <a:spcPts val="8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Food can become waste because it is not matched quickly</a:t>
            </a:r>
          </a:p>
          <a:p>
            <a:pPr>
              <a:spcAft>
                <a:spcPts val="8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Donors may not know who can receive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33172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People and community groups need accessible food</a:t>
            </a:r>
          </a:p>
          <a:p>
            <a:pPr>
              <a:spcAft>
                <a:spcPts val="8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Manual coordination is slow and fragmented</a:t>
            </a:r>
          </a:p>
          <a:p>
            <a:pPr>
              <a:spcAft>
                <a:spcPts val="8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Urgent needs require prioritisation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40680" y="1828800"/>
            <a:ext cx="1143000" cy="0"/>
          </a:xfrm>
          <a:prstGeom prst="line">
            <a:avLst/>
          </a:prstGeom>
          <a:ln w="38100">
            <a:solidFill>
              <a:srgbClr val="14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68112" y="2084831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9189"/>
                </a:solidFill>
                <a:latin typeface="Aptos"/>
              </a:rPr>
              <a:t>The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754880"/>
            <a:ext cx="5760720" cy="68580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F2D37"/>
                </a:solidFill>
                <a:latin typeface="Aptos"/>
              </a:rPr>
              <a:t>A coordination and decision-support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2. Our solution: FoodBridge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A prototype that supports safer decisions and faster community matching</a:t>
            </a:r>
          </a:p>
        </p:txBody>
      </p:sp>
      <p:sp>
        <p:nvSpPr>
          <p:cNvPr id="4" name="Oval 3"/>
          <p:cNvSpPr/>
          <p:nvPr/>
        </p:nvSpPr>
        <p:spPr>
          <a:xfrm>
            <a:off x="1508760" y="1417320"/>
            <a:ext cx="530352" cy="530352"/>
          </a:xfrm>
          <a:prstGeom prst="ellipse">
            <a:avLst/>
          </a:prstGeom>
          <a:solidFill>
            <a:srgbClr val="149189"/>
          </a:solidFill>
          <a:ln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560320" cy="566928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D37"/>
                </a:solidFill>
                <a:latin typeface="Aptos"/>
              </a:rPr>
              <a:t>Analyse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880360"/>
            <a:ext cx="2377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D37"/>
                </a:solidFill>
                <a:latin typeface="Aptos"/>
              </a:rPr>
              <a:t>Estimate freshness using food category + 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2423160"/>
            <a:ext cx="137160" cy="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389120" y="1417320"/>
            <a:ext cx="530352" cy="530352"/>
          </a:xfrm>
          <a:prstGeom prst="ellipse">
            <a:avLst/>
          </a:prstGeom>
          <a:solidFill>
            <a:srgbClr val="41A05A"/>
          </a:solidFill>
          <a:ln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48840"/>
            <a:ext cx="2560320" cy="566928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D37"/>
                </a:solidFill>
                <a:latin typeface="Aptos"/>
              </a:rPr>
              <a:t>Match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80360"/>
            <a:ext cx="2377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D37"/>
                </a:solidFill>
                <a:latin typeface="Aptos"/>
              </a:rPr>
              <a:t>Filter suitable community recipients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2423160"/>
            <a:ext cx="137160" cy="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269480" y="1417320"/>
            <a:ext cx="530352" cy="530352"/>
          </a:xfrm>
          <a:prstGeom prst="ellipse">
            <a:avLst/>
          </a:prstGeom>
          <a:solidFill>
            <a:srgbClr val="E88F37"/>
          </a:solidFill>
          <a:ln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48840"/>
            <a:ext cx="2560320" cy="566928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D37"/>
                </a:solidFill>
                <a:latin typeface="Aptos"/>
              </a:rPr>
              <a:t>Track donation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80360"/>
            <a:ext cx="2377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D37"/>
                </a:solidFill>
                <a:latin typeface="Aptos"/>
              </a:rPr>
              <a:t>Move from matched to completed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2423160"/>
            <a:ext cx="137160" cy="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149840" y="1417320"/>
            <a:ext cx="530352" cy="530352"/>
          </a:xfrm>
          <a:prstGeom prst="ellipse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148840"/>
            <a:ext cx="2560320" cy="566928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D37"/>
                </a:solidFill>
                <a:latin typeface="Aptos"/>
              </a:rPr>
              <a:t>Measure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880360"/>
            <a:ext cx="2377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D37"/>
                </a:solidFill>
                <a:latin typeface="Aptos"/>
              </a:rPr>
              <a:t>Update food and sustainability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4892040"/>
            <a:ext cx="8092440" cy="658368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Human-in-the-loop: AI advises; people make the final donation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How the main parts of the prototype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234440"/>
            <a:ext cx="4114800" cy="64008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F2D37"/>
                </a:solidFill>
                <a:latin typeface="Aptos"/>
              </a:rPr>
              <a:t>React + TypeScript UI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874519"/>
            <a:ext cx="0" cy="457201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23360" y="2331720"/>
            <a:ext cx="4114800" cy="64008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F2D37"/>
                </a:solidFill>
                <a:latin typeface="Aptos"/>
              </a:rPr>
              <a:t>Application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468880" cy="68580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D37"/>
                </a:solidFill>
                <a:latin typeface="Aptos"/>
              </a:rPr>
              <a:t>Food Analyzer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657600"/>
            <a:ext cx="2468880" cy="68580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D37"/>
                </a:solidFill>
                <a:latin typeface="Aptos"/>
              </a:rPr>
              <a:t>Matching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2468880" cy="68580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D37"/>
                </a:solidFill>
                <a:latin typeface="Aptos"/>
              </a:rPr>
              <a:t>Donation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657600"/>
            <a:ext cx="2468880" cy="68580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D37"/>
                </a:solidFill>
                <a:latin typeface="Aptos"/>
              </a:rPr>
              <a:t>Impact Metrics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65960" y="2971800"/>
            <a:ext cx="4114800" cy="640080"/>
          </a:xfrm>
          <a:prstGeom prst="line">
            <a:avLst/>
          </a:prstGeom>
          <a:ln w="2032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709160" y="2971800"/>
            <a:ext cx="1371600" cy="640080"/>
          </a:xfrm>
          <a:prstGeom prst="line">
            <a:avLst/>
          </a:prstGeom>
          <a:ln w="2032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971800"/>
            <a:ext cx="1371600" cy="640080"/>
          </a:xfrm>
          <a:prstGeom prst="line">
            <a:avLst/>
          </a:prstGeom>
          <a:ln w="2032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971800"/>
            <a:ext cx="4114800" cy="640080"/>
          </a:xfrm>
          <a:prstGeom prst="line">
            <a:avLst/>
          </a:prstGeom>
          <a:ln w="2032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31920" y="48920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0737E"/>
                </a:solidFill>
                <a:latin typeface="Aptos"/>
              </a:rPr>
              <a:t>Demo data + sessionStorage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D37"/>
                </a:solidFill>
                <a:latin typeface="Aptos"/>
              </a:rPr>
              <a:t>The prototype is intentionally deterministic and explainable; external AI/RAG is not required for the demo.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4. Where AI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AI is applied as decision support—not as an uncontrolled automatic decision-maker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64008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F2D37"/>
                </a:solidFill>
                <a:latin typeface="Aptos"/>
              </a:rPr>
              <a:t>Food freshness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Inputs: food category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Age / time since preparation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Food-specific safety thresholds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Output: Fresh / Caution / Stale / Spoilage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325880"/>
            <a:ext cx="3383280" cy="64008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F2D37"/>
                </a:solidFill>
                <a:latin typeface="Aptos"/>
              </a:rPr>
              <a:t>AI advisory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0288" y="22402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Explains the detected condition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Suggests whether donation is advisable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Provides a reason the user can understand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Keeps the final action with the human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383280" cy="64008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F2D37"/>
                </a:solidFill>
                <a:latin typeface="Aptos"/>
              </a:rPr>
              <a:t>Intelligent matching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402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Category compatibility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Quantity and availability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Location / urgency factors</a:t>
            </a:r>
          </a:p>
          <a:p>
            <a:pPr>
              <a:spcAft>
                <a:spcPts val="600"/>
              </a:spcAft>
              <a:defRPr sz="1600">
                <a:solidFill>
                  <a:srgbClr val="1F2D37"/>
                </a:solidFill>
                <a:latin typeface="Aptos"/>
              </a:defRPr>
            </a:pPr>
            <a:r>
              <a:t>• Only valid matches are shown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074920"/>
            <a:ext cx="8503920" cy="68580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Responsible AI principles: explainability • safety-first • deterministic demo • human oversight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5. Flowchart: food safety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The decision path used by the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097280"/>
            <a:ext cx="3657600" cy="59436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User enters food details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91640"/>
            <a:ext cx="0" cy="36576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51960" y="2057400"/>
            <a:ext cx="3657600" cy="59436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Identify food category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651760"/>
            <a:ext cx="0" cy="36576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3017520"/>
            <a:ext cx="4846320" cy="59436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Compare age with category threshold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3611880"/>
            <a:ext cx="0" cy="365759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977639"/>
            <a:ext cx="2926080" cy="68580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Fresh / Caution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977639"/>
            <a:ext cx="2926080" cy="68580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Stale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977639"/>
            <a:ext cx="2926080" cy="685800"/>
          </a:xfrm>
          <a:prstGeom prst="roundRect">
            <a:avLst/>
          </a:prstGeom>
          <a:solidFill>
            <a:srgbClr val="FAE6E6"/>
          </a:solidFill>
          <a:ln w="19050"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Spoilage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377440" y="3657600"/>
            <a:ext cx="3703320" cy="292608"/>
          </a:xfrm>
          <a:prstGeom prst="line">
            <a:avLst/>
          </a:prstGeom>
          <a:ln w="22860">
            <a:solidFill>
              <a:srgbClr val="41A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3657600"/>
            <a:ext cx="0" cy="292608"/>
          </a:xfrm>
          <a:prstGeom prst="line">
            <a:avLst/>
          </a:prstGeom>
          <a:ln w="22860">
            <a:solidFill>
              <a:srgbClr val="E88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3657600"/>
            <a:ext cx="3703320" cy="292608"/>
          </a:xfrm>
          <a:prstGeom prst="line">
            <a:avLst/>
          </a:prstGeom>
          <a:ln w="22860">
            <a:solidFill>
              <a:srgbClr val="C4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11680" y="5257800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A42"/>
                </a:solidFill>
                <a:latin typeface="Aptos"/>
              </a:rPr>
              <a:t>Advisory result + explanation + recommended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806440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737E"/>
                </a:solidFill>
                <a:latin typeface="Aptos"/>
              </a:rPr>
              <a:t>Important: the prototype is a decision-support demo, not a substitute for professional food-safety inspection.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6. Flowchart: from analysis to donation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How a safe food item becomes a tracked community donation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2377440" cy="68580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D37"/>
                </a:solidFill>
                <a:latin typeface="Aptos"/>
              </a:rPr>
              <a:t>Food analysis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280160"/>
            <a:ext cx="2560320" cy="68580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D37"/>
                </a:solidFill>
                <a:latin typeface="Aptos"/>
              </a:rPr>
              <a:t>Find compatible recipients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80160"/>
            <a:ext cx="2560320" cy="68580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D37"/>
                </a:solidFill>
                <a:latin typeface="Aptos"/>
              </a:rPr>
              <a:t>Check availability + urgency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280160"/>
            <a:ext cx="2377440" cy="68580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D37"/>
                </a:solidFill>
                <a:latin typeface="Aptos"/>
              </a:rPr>
              <a:t>Create donation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627632"/>
            <a:ext cx="320040" cy="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97880" y="1627632"/>
            <a:ext cx="320040" cy="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3960" y="1627632"/>
            <a:ext cx="320040" cy="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378440" y="1965960"/>
            <a:ext cx="0" cy="77724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61120" y="2743200"/>
            <a:ext cx="2834640" cy="59436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Matched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78440" y="3337560"/>
            <a:ext cx="0" cy="36576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3703320"/>
            <a:ext cx="3657600" cy="68580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Accepted → In Transit → Completed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086600" y="4041648"/>
            <a:ext cx="1051560" cy="0"/>
          </a:xfrm>
          <a:prstGeom prst="line">
            <a:avLst/>
          </a:prstGeom>
          <a:ln w="2540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91840" y="3703320"/>
            <a:ext cx="4297680" cy="68580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Impact metrics update after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12080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A42"/>
                </a:solidFill>
                <a:latin typeface="Aptos"/>
              </a:rPr>
              <a:t>The lifecycle makes the impact measurable instead of relying on static demo numbers.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7. How FoodBridge AI supports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The project connects a digital workflow to measurable social and environmental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200400" cy="59436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F2D37"/>
                </a:solidFill>
                <a:latin typeface="Aptos"/>
              </a:rPr>
              <a:t>SDG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2A42"/>
                </a:solidFill>
                <a:latin typeface="Aptos"/>
              </a:rPr>
              <a:t>Zero Hunger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2D37"/>
                </a:solidFill>
                <a:latin typeface="Aptos"/>
              </a:rPr>
              <a:t>Helps route edible surplus toward community needs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200400" cy="59436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F2D37"/>
                </a:solidFill>
                <a:latin typeface="Aptos"/>
              </a:rPr>
              <a:t>SDG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2A42"/>
                </a:solidFill>
                <a:latin typeface="Aptos"/>
              </a:rPr>
              <a:t>Responsible Consumption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889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2D37"/>
                </a:solidFill>
                <a:latin typeface="Aptos"/>
              </a:rPr>
              <a:t>Reduces avoidable food waste through better coordination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3200400" cy="59436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F2D37"/>
                </a:solidFill>
                <a:latin typeface="Aptos"/>
              </a:rPr>
              <a:t>SDG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488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2A42"/>
                </a:solidFill>
                <a:latin typeface="Aptos"/>
              </a:rPr>
              <a:t>Climate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889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2D37"/>
                </a:solidFill>
                <a:latin typeface="Aptos"/>
              </a:rPr>
              <a:t>Avoided waste can reduce the emissions associated with wasted food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709160"/>
            <a:ext cx="2057400" cy="566928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D37"/>
                </a:solidFill>
                <a:latin typeface="Aptos"/>
              </a:rPr>
              <a:t>Better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709160"/>
            <a:ext cx="2057400" cy="566928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D37"/>
                </a:solidFill>
                <a:latin typeface="Aptos"/>
              </a:rPr>
              <a:t>Faster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709160"/>
            <a:ext cx="2423160" cy="566928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D37"/>
                </a:solidFill>
                <a:latin typeface="Aptos"/>
              </a:rPr>
              <a:t>More completed donations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4709160"/>
            <a:ext cx="2194560" cy="566928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D37"/>
                </a:solidFill>
                <a:latin typeface="Aptos"/>
              </a:rPr>
              <a:t>Less avoidable waste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120" y="4992624"/>
            <a:ext cx="274319" cy="0"/>
          </a:xfrm>
          <a:prstGeom prst="line">
            <a:avLst/>
          </a:prstGeom>
          <a:ln w="2159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4992624"/>
            <a:ext cx="274320" cy="0"/>
          </a:xfrm>
          <a:prstGeom prst="line">
            <a:avLst/>
          </a:prstGeom>
          <a:ln w="2159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58200" y="4992624"/>
            <a:ext cx="274320" cy="0"/>
          </a:xfrm>
          <a:prstGeom prst="line">
            <a:avLst/>
          </a:prstGeom>
          <a:ln w="2159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8. What we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The donation lifecycle turns activity into visible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937760" cy="64008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1F2D37"/>
                </a:solidFill>
                <a:latin typeface="Aptos"/>
              </a:rPr>
              <a:t>Food analysed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2D37"/>
                </a:solidFill>
                <a:latin typeface="Aptos"/>
              </a:rPr>
              <a:t>Number of food checks 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4937760" cy="64008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1F2D37"/>
                </a:solidFill>
                <a:latin typeface="Aptos"/>
              </a:rPr>
              <a:t>Donations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2D37"/>
                </a:solidFill>
                <a:latin typeface="Aptos"/>
              </a:rPr>
              <a:t>Only completed donations count toward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0400"/>
            <a:ext cx="4937760" cy="64008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1F2D37"/>
                </a:solidFill>
                <a:latin typeface="Aptos"/>
              </a:rPr>
              <a:t>Meals supported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2D37"/>
                </a:solidFill>
                <a:latin typeface="Aptos"/>
              </a:rPr>
              <a:t>Derived from completed donation quantities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4937760" cy="64008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1F2D37"/>
                </a:solidFill>
                <a:latin typeface="Aptos"/>
              </a:rPr>
              <a:t>Waste diverted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2D37"/>
                </a:solidFill>
                <a:latin typeface="Aptos"/>
              </a:rPr>
              <a:t>Quantity associated with completed donations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5349240"/>
            <a:ext cx="9235440" cy="68580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Metrics are reactive: when a donation moves to Completed, the dashboard can update from stored lifecycle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9. Suggested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A short presentation sequence that tells the complete story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234440"/>
            <a:ext cx="530352" cy="530352"/>
          </a:xfrm>
          <a:prstGeom prst="ellipse">
            <a:avLst/>
          </a:prstGeom>
          <a:solidFill>
            <a:srgbClr val="149189"/>
          </a:solidFill>
          <a:ln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0200" y="12618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A42"/>
                </a:solidFill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271016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D37"/>
                </a:solidFill>
                <a:latin typeface="Aptos"/>
              </a:rPr>
              <a:t>Show baseline metrics and the AI for Sustainability positioning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88136" y="1764792"/>
            <a:ext cx="0" cy="365760"/>
          </a:xfrm>
          <a:prstGeom prst="line">
            <a:avLst/>
          </a:prstGeom>
          <a:ln w="1905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2960" y="2194560"/>
            <a:ext cx="530352" cy="530352"/>
          </a:xfrm>
          <a:prstGeom prst="ellipse">
            <a:avLst/>
          </a:prstGeom>
          <a:solidFill>
            <a:srgbClr val="41A05A"/>
          </a:solidFill>
          <a:ln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2199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A42"/>
                </a:solidFill>
                <a:latin typeface="Aptos"/>
              </a:rPr>
              <a:t>Food 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31136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D37"/>
                </a:solidFill>
                <a:latin typeface="Aptos"/>
              </a:rPr>
              <a:t>Enter a food category and age; explain the advisory result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88136" y="2724912"/>
            <a:ext cx="0" cy="365760"/>
          </a:xfrm>
          <a:prstGeom prst="line">
            <a:avLst/>
          </a:prstGeom>
          <a:ln w="1905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2960" y="3154680"/>
            <a:ext cx="530352" cy="530352"/>
          </a:xfrm>
          <a:prstGeom prst="ellipse">
            <a:avLst/>
          </a:prstGeom>
          <a:solidFill>
            <a:srgbClr val="E88F37"/>
          </a:solidFill>
          <a:ln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0</a:t>
            </a: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318211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A42"/>
                </a:solidFill>
                <a:latin typeface="Aptos"/>
              </a:rPr>
              <a:t>Community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91256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D37"/>
                </a:solidFill>
                <a:latin typeface="Aptos"/>
              </a:rPr>
              <a:t>Show how category, quantity, availability and urgency affect matches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8136" y="3685032"/>
            <a:ext cx="0" cy="365759"/>
          </a:xfrm>
          <a:prstGeom prst="line">
            <a:avLst/>
          </a:prstGeom>
          <a:ln w="1905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2960" y="4078224"/>
            <a:ext cx="530352" cy="530352"/>
          </a:xfrm>
          <a:prstGeom prst="ellipse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0</a:t>
            </a: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414223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A42"/>
                </a:solidFill>
                <a:latin typeface="Aptos"/>
              </a:rPr>
              <a:t>Donation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151376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D37"/>
                </a:solidFill>
                <a:latin typeface="Aptos"/>
              </a:rPr>
              <a:t>Move Matched → Accepted → In Transit → Completed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8136" y="4645152"/>
            <a:ext cx="0" cy="365760"/>
          </a:xfrm>
          <a:prstGeom prst="line">
            <a:avLst/>
          </a:prstGeom>
          <a:ln w="19050">
            <a:solidFill>
              <a:srgbClr val="607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" y="5020055"/>
            <a:ext cx="530352" cy="530352"/>
          </a:xfrm>
          <a:prstGeom prst="ellipse">
            <a:avLst/>
          </a:prstGeom>
          <a:solidFill>
            <a:srgbClr val="149189"/>
          </a:solidFill>
          <a:ln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937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122A42"/>
                </a:solidFill>
                <a:latin typeface="Aptos"/>
              </a:rPr>
              <a:t>Impact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5111496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D37"/>
                </a:solidFill>
                <a:latin typeface="Aptos"/>
              </a:rPr>
              <a:t>Return to the dashboard and show the completed donation reflected in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737E"/>
                </a:solidFill>
                <a:latin typeface="Aptos"/>
              </a:rPr>
              <a:t>FoodBridge AI  |  AI for Sustainability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10. Responsible AI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What the prototype does—and what it does not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64008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F2D37"/>
                </a:solidFill>
                <a:latin typeface="Aptos"/>
              </a:rPr>
              <a:t>Responsible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Explainable outputs instead of black-box scores</a:t>
            </a:r>
          </a:p>
          <a:p>
            <a:pPr>
              <a:spcAft>
                <a:spcPts val="7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Food-category thresholds are visible and auditable</a:t>
            </a:r>
          </a:p>
          <a:p>
            <a:pPr>
              <a:spcAft>
                <a:spcPts val="7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Human approval remains part of the donation flow</a:t>
            </a:r>
          </a:p>
          <a:p>
            <a:pPr>
              <a:spcAft>
                <a:spcPts val="7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Demo uses deterministic logic and mock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64008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F2D37"/>
                </a:solidFill>
                <a:latin typeface="Aptos"/>
              </a:rPr>
              <a:t>Limitations to state clearly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1945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Not a certified food-safety inspection system</a:t>
            </a:r>
          </a:p>
          <a:p>
            <a:pPr>
              <a:spcAft>
                <a:spcPts val="7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No guarantee that food is safe based only on age</a:t>
            </a:r>
          </a:p>
          <a:p>
            <a:pPr>
              <a:spcAft>
                <a:spcPts val="7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Matching is prototype logic, not a live NGO network</a:t>
            </a:r>
          </a:p>
          <a:p>
            <a:pPr>
              <a:spcAft>
                <a:spcPts val="700"/>
              </a:spcAft>
              <a:defRPr sz="1700">
                <a:solidFill>
                  <a:srgbClr val="1F2D37"/>
                </a:solidFill>
                <a:latin typeface="Aptos"/>
              </a:defRPr>
            </a:pPr>
            <a:r>
              <a:t>• External RAG / production AI integrations are future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5257800"/>
            <a:ext cx="8138160" cy="64008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F2D37"/>
                </a:solidFill>
                <a:latin typeface="Aptos"/>
              </a:rPr>
              <a:t>Trust comes from transparency, not from claiming that AI is perfect.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60737E"/>
                </a:solidFill>
                <a:latin typeface="Aptos"/>
              </a:rPr>
              <a:t>FoodBridge</a:t>
            </a:r>
            <a:r>
              <a:rPr sz="900" b="0" dirty="0">
                <a:solidFill>
                  <a:srgbClr val="60737E"/>
                </a:solidFill>
                <a:latin typeface="Aptos"/>
              </a:rPr>
              <a:t> AI  |  AI for Sustainability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0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22A42"/>
                </a:solidFill>
                <a:latin typeface="Aptos"/>
              </a:rPr>
              <a:t>Project Screenshots</a:t>
            </a:r>
            <a:endParaRPr sz="2800" b="1" dirty="0">
              <a:solidFill>
                <a:srgbClr val="122A42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6977" y="433896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0737E"/>
                </a:solidFill>
                <a:latin typeface="Aptos"/>
              </a:rPr>
              <a:t>What the prototype does</a:t>
            </a:r>
            <a:r>
              <a:rPr lang="en-US" sz="1200" b="0" dirty="0">
                <a:solidFill>
                  <a:srgbClr val="60737E"/>
                </a:solidFill>
                <a:latin typeface="Aptos"/>
              </a:rPr>
              <a:t> </a:t>
            </a:r>
            <a:r>
              <a:rPr sz="1200" b="0" dirty="0">
                <a:solidFill>
                  <a:srgbClr val="60737E"/>
                </a:solidFill>
                <a:latin typeface="Aptos"/>
              </a:rPr>
              <a:t>and what it does not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60737E"/>
                </a:solidFill>
                <a:latin typeface="Aptos"/>
              </a:rPr>
              <a:t>FoodBridge</a:t>
            </a:r>
            <a:r>
              <a:rPr sz="900" b="0" dirty="0">
                <a:solidFill>
                  <a:srgbClr val="60737E"/>
                </a:solidFill>
                <a:latin typeface="Aptos"/>
              </a:rPr>
              <a:t> AI  |  AI for Sustainability  |  1</a:t>
            </a:r>
            <a:r>
              <a:rPr lang="en-US" sz="900" b="0" dirty="0">
                <a:solidFill>
                  <a:srgbClr val="60737E"/>
                </a:solidFill>
                <a:latin typeface="Aptos"/>
              </a:rPr>
              <a:t>2</a:t>
            </a:r>
            <a:endParaRPr sz="900" b="0" dirty="0">
              <a:solidFill>
                <a:srgbClr val="60737E"/>
              </a:solidFill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9D40A8-BF45-8456-00D4-B45EFF952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60" y="647714"/>
            <a:ext cx="6002547" cy="2580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AAF67B-7848-52C9-78FA-F1A73702A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89"/>
          <a:stretch/>
        </p:blipFill>
        <p:spPr>
          <a:xfrm>
            <a:off x="238597" y="3227962"/>
            <a:ext cx="6032410" cy="27629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1848C4-AC73-F2FB-D073-C8914AF62C54}"/>
              </a:ext>
            </a:extLst>
          </p:cNvPr>
          <p:cNvSpPr txBox="1"/>
          <p:nvPr/>
        </p:nvSpPr>
        <p:spPr>
          <a:xfrm>
            <a:off x="2178538" y="5984599"/>
            <a:ext cx="2182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mage 1 Dashboard</a:t>
            </a:r>
            <a:endParaRPr lang="en-IN" sz="1800" b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70EFA4-2476-C60F-FBEB-1A36E7A56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007" y="647714"/>
            <a:ext cx="5882810" cy="25481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9AADA0D-C15C-231F-99DE-BF2665D0DE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52" t="7005"/>
          <a:stretch/>
        </p:blipFill>
        <p:spPr>
          <a:xfrm>
            <a:off x="6271007" y="3227962"/>
            <a:ext cx="5958665" cy="28110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FDF49CC-B80B-C91E-D9D6-9B14C4877AFC}"/>
              </a:ext>
            </a:extLst>
          </p:cNvPr>
          <p:cNvSpPr txBox="1"/>
          <p:nvPr/>
        </p:nvSpPr>
        <p:spPr>
          <a:xfrm>
            <a:off x="7535043" y="6025620"/>
            <a:ext cx="3582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mage 2 Community Dashboard</a:t>
            </a:r>
            <a:endParaRPr lang="en-IN" sz="1800" b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6575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0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22A42"/>
                </a:solidFill>
                <a:latin typeface="Aptos"/>
              </a:rPr>
              <a:t>Project Screenshots</a:t>
            </a:r>
            <a:endParaRPr sz="2800" b="1" dirty="0">
              <a:solidFill>
                <a:srgbClr val="122A42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6977" y="433896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0737E"/>
                </a:solidFill>
                <a:latin typeface="Aptos"/>
              </a:rPr>
              <a:t>What the prototype does</a:t>
            </a:r>
            <a:r>
              <a:rPr lang="en-US" sz="1200" b="0" dirty="0">
                <a:solidFill>
                  <a:srgbClr val="60737E"/>
                </a:solidFill>
                <a:latin typeface="Aptos"/>
              </a:rPr>
              <a:t> </a:t>
            </a:r>
            <a:r>
              <a:rPr sz="1200" b="0" dirty="0">
                <a:solidFill>
                  <a:srgbClr val="60737E"/>
                </a:solidFill>
                <a:latin typeface="Aptos"/>
              </a:rPr>
              <a:t>and what it does not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60737E"/>
                </a:solidFill>
                <a:latin typeface="Aptos"/>
              </a:rPr>
              <a:t>FoodBridge</a:t>
            </a:r>
            <a:r>
              <a:rPr sz="900" b="0" dirty="0">
                <a:solidFill>
                  <a:srgbClr val="60737E"/>
                </a:solidFill>
                <a:latin typeface="Aptos"/>
              </a:rPr>
              <a:t> AI  |  AI for Sustainability  |  1</a:t>
            </a:r>
            <a:r>
              <a:rPr lang="en-US" sz="900" b="0" dirty="0">
                <a:solidFill>
                  <a:srgbClr val="60737E"/>
                </a:solidFill>
                <a:latin typeface="Aptos"/>
              </a:rPr>
              <a:t>3</a:t>
            </a:r>
            <a:endParaRPr sz="900" b="0" dirty="0">
              <a:solidFill>
                <a:srgbClr val="60737E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1848C4-AC73-F2FB-D073-C8914AF62C54}"/>
              </a:ext>
            </a:extLst>
          </p:cNvPr>
          <p:cNvSpPr txBox="1"/>
          <p:nvPr/>
        </p:nvSpPr>
        <p:spPr>
          <a:xfrm>
            <a:off x="1908410" y="6164085"/>
            <a:ext cx="2182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mage 3 AI Assistant</a:t>
            </a:r>
            <a:endParaRPr lang="en-IN" sz="1800" b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F49CC-B80B-C91E-D9D6-9B14C4877AFC}"/>
              </a:ext>
            </a:extLst>
          </p:cNvPr>
          <p:cNvSpPr txBox="1"/>
          <p:nvPr/>
        </p:nvSpPr>
        <p:spPr>
          <a:xfrm>
            <a:off x="7535043" y="6025620"/>
            <a:ext cx="3582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mage 4 Impact Dashboard</a:t>
            </a:r>
            <a:endParaRPr lang="en-IN" sz="1800" b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CF79-2EC1-2166-F63D-1A084AB19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9" y="693915"/>
            <a:ext cx="5710373" cy="2776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9F3B25-CAFB-1CED-277A-34FB351190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17"/>
          <a:stretch/>
        </p:blipFill>
        <p:spPr>
          <a:xfrm>
            <a:off x="0" y="3437195"/>
            <a:ext cx="5854792" cy="2588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C91589-A9F6-7A23-6F69-BED4E9FEE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792" y="679856"/>
            <a:ext cx="6337208" cy="27409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9A0410-2423-2F43-3E68-2626478A6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328"/>
          <a:stretch/>
        </p:blipFill>
        <p:spPr>
          <a:xfrm>
            <a:off x="5854792" y="3420805"/>
            <a:ext cx="6291159" cy="216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57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0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22A42"/>
                </a:solidFill>
                <a:latin typeface="Aptos"/>
              </a:rPr>
              <a:t>Project Screenshots</a:t>
            </a:r>
            <a:endParaRPr sz="2800" b="1" dirty="0">
              <a:solidFill>
                <a:srgbClr val="122A42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6977" y="433896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0737E"/>
                </a:solidFill>
                <a:latin typeface="Aptos"/>
              </a:rPr>
              <a:t>What the prototype does</a:t>
            </a:r>
            <a:r>
              <a:rPr lang="en-US" sz="1200" b="0" dirty="0">
                <a:solidFill>
                  <a:srgbClr val="60737E"/>
                </a:solidFill>
                <a:latin typeface="Aptos"/>
              </a:rPr>
              <a:t> </a:t>
            </a:r>
            <a:r>
              <a:rPr sz="1200" b="0" dirty="0">
                <a:solidFill>
                  <a:srgbClr val="60737E"/>
                </a:solidFill>
                <a:latin typeface="Aptos"/>
              </a:rPr>
              <a:t>and what it does not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60737E"/>
                </a:solidFill>
                <a:latin typeface="Aptos"/>
              </a:rPr>
              <a:t>FoodBridge</a:t>
            </a:r>
            <a:r>
              <a:rPr sz="900" b="0" dirty="0">
                <a:solidFill>
                  <a:srgbClr val="60737E"/>
                </a:solidFill>
                <a:latin typeface="Aptos"/>
              </a:rPr>
              <a:t> AI  |  AI for Sustainability  |  1</a:t>
            </a:r>
            <a:r>
              <a:rPr lang="en-US" sz="900" b="0" dirty="0">
                <a:solidFill>
                  <a:srgbClr val="60737E"/>
                </a:solidFill>
                <a:latin typeface="Aptos"/>
              </a:rPr>
              <a:t>4</a:t>
            </a:r>
            <a:endParaRPr sz="900" b="0" dirty="0">
              <a:solidFill>
                <a:srgbClr val="60737E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1848C4-AC73-F2FB-D073-C8914AF62C54}"/>
              </a:ext>
            </a:extLst>
          </p:cNvPr>
          <p:cNvSpPr txBox="1"/>
          <p:nvPr/>
        </p:nvSpPr>
        <p:spPr>
          <a:xfrm>
            <a:off x="6427781" y="5316759"/>
            <a:ext cx="6748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mage 5 Donation Workflow and AI Analysis</a:t>
            </a:r>
            <a:endParaRPr lang="en-IN" sz="1800" b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0E154B-10FC-EAB8-549B-58F4267C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4" y="710895"/>
            <a:ext cx="5802221" cy="28259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9C11D8-C26A-2273-F2BC-420E7B8AD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9" y="3429000"/>
            <a:ext cx="5809314" cy="28259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A142CA-4DE9-84A4-625F-56EB881BEA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04"/>
          <a:stretch/>
        </p:blipFill>
        <p:spPr>
          <a:xfrm>
            <a:off x="5887740" y="408315"/>
            <a:ext cx="6066646" cy="302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48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22A42"/>
                </a:solidFill>
                <a:latin typeface="Aptos"/>
              </a:rPr>
              <a:t>11.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737E"/>
                </a:solidFill>
                <a:latin typeface="Aptos"/>
              </a:rPr>
              <a:t>How the prototype could become a real-world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54680" cy="64008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Live partner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D37"/>
                </a:solidFill>
                <a:latin typeface="Aptos"/>
              </a:rPr>
              <a:t>Connect verified NGOs, shelters, food banks and volunteers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371600"/>
            <a:ext cx="3154680" cy="640080"/>
          </a:xfrm>
          <a:prstGeom prst="roundRect">
            <a:avLst/>
          </a:prstGeom>
          <a:solidFill>
            <a:srgbClr val="E7F6E8"/>
          </a:solidFill>
          <a:ln w="19050">
            <a:solidFill>
              <a:srgbClr val="41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Real AI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24028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D37"/>
                </a:solidFill>
                <a:latin typeface="Aptos"/>
              </a:rPr>
              <a:t>Add validated ML/RAG with monitoring and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371600"/>
            <a:ext cx="3154680" cy="640080"/>
          </a:xfrm>
          <a:prstGeom prst="roundRect">
            <a:avLst/>
          </a:prstGeom>
          <a:solidFill>
            <a:srgbClr val="FDEFDE"/>
          </a:solidFill>
          <a:ln w="19050">
            <a:solidFill>
              <a:srgbClr val="E8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4028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D37"/>
                </a:solidFill>
                <a:latin typeface="Aptos"/>
              </a:rPr>
              <a:t>Alert recipients and donors about urgent matches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3154680" cy="640080"/>
          </a:xfrm>
          <a:prstGeom prst="roundRect">
            <a:avLst/>
          </a:prstGeom>
          <a:solidFill>
            <a:srgbClr val="E5EFF9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D37"/>
                </a:solidFill>
                <a:latin typeface="Aptos"/>
              </a:rPr>
              <a:t>Add pickup proof, timestamps and audit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429000"/>
            <a:ext cx="3154680" cy="640080"/>
          </a:xfrm>
          <a:prstGeom prst="roundRect">
            <a:avLst/>
          </a:prstGeom>
          <a:solidFill>
            <a:srgbClr val="E1F4F1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D37"/>
                </a:solidFill>
                <a:latin typeface="Aptos"/>
              </a:rPr>
              <a:t>Impact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29768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D37"/>
                </a:solidFill>
                <a:latin typeface="Aptos"/>
              </a:rPr>
              <a:t>Track meals, kg diverted, reach and SDG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5486400"/>
            <a:ext cx="7680960" cy="640080"/>
          </a:xfrm>
          <a:prstGeom prst="roundRect">
            <a:avLst/>
          </a:prstGeom>
          <a:solidFill>
            <a:srgbClr val="122A42"/>
          </a:solidFill>
          <a:ln w="19050"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Prototype today → scalable sustainability platform 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60737E"/>
                </a:solidFill>
                <a:latin typeface="Aptos"/>
              </a:rPr>
              <a:t>FoodBridge</a:t>
            </a:r>
            <a:r>
              <a:rPr sz="900" b="0" dirty="0">
                <a:solidFill>
                  <a:srgbClr val="60737E"/>
                </a:solidFill>
                <a:latin typeface="Aptos"/>
              </a:rPr>
              <a:t> AI  |  AI for Sustainability  |  1</a:t>
            </a:r>
            <a:r>
              <a:rPr lang="en-IN" sz="900" b="0" dirty="0">
                <a:solidFill>
                  <a:srgbClr val="60737E"/>
                </a:solidFill>
                <a:latin typeface="Aptos"/>
              </a:rPr>
              <a:t>5</a:t>
            </a:r>
            <a:endParaRPr sz="900" b="0" dirty="0">
              <a:solidFill>
                <a:srgbClr val="60737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22A42"/>
                </a:solidFill>
                <a:latin typeface="Aptos"/>
              </a:rPr>
              <a:t>11.</a:t>
            </a:r>
            <a:r>
              <a:rPr lang="en-IN" sz="2800" b="1" dirty="0">
                <a:solidFill>
                  <a:srgbClr val="122A42"/>
                </a:solidFill>
                <a:latin typeface="Aptos"/>
              </a:rPr>
              <a:t>Test it yourself !!</a:t>
            </a:r>
            <a:endParaRPr sz="2800" b="1" dirty="0">
              <a:solidFill>
                <a:srgbClr val="122A42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0737E"/>
                </a:solidFill>
                <a:latin typeface="Aptos"/>
              </a:rPr>
              <a:t>How t</a:t>
            </a:r>
            <a:r>
              <a:rPr lang="en-IN" sz="1200" b="0" dirty="0">
                <a:solidFill>
                  <a:srgbClr val="60737E"/>
                </a:solidFill>
                <a:latin typeface="Aptos"/>
              </a:rPr>
              <a:t>o test the prototype</a:t>
            </a:r>
            <a:endParaRPr sz="1200" b="0" dirty="0">
              <a:solidFill>
                <a:srgbClr val="60737E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 err="1">
                <a:solidFill>
                  <a:srgbClr val="60737E"/>
                </a:solidFill>
                <a:latin typeface="Aptos"/>
              </a:rPr>
              <a:t>FoodBridge</a:t>
            </a:r>
            <a:r>
              <a:rPr sz="900" b="0" dirty="0">
                <a:solidFill>
                  <a:srgbClr val="60737E"/>
                </a:solidFill>
                <a:latin typeface="Aptos"/>
              </a:rPr>
              <a:t> AI  |  AI for Sustainability  |  1</a:t>
            </a:r>
            <a:r>
              <a:rPr lang="en-IN" sz="900" dirty="0">
                <a:solidFill>
                  <a:srgbClr val="60737E"/>
                </a:solidFill>
                <a:latin typeface="Aptos"/>
              </a:rPr>
              <a:t>6</a:t>
            </a:r>
            <a:endParaRPr sz="900" b="0" dirty="0">
              <a:solidFill>
                <a:srgbClr val="60737E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1828C5-5B0A-D6A0-A33B-043EFC9CA9C3}"/>
              </a:ext>
            </a:extLst>
          </p:cNvPr>
          <p:cNvSpPr txBox="1"/>
          <p:nvPr/>
        </p:nvSpPr>
        <p:spPr>
          <a:xfrm>
            <a:off x="548640" y="1454789"/>
            <a:ext cx="66678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Step1:- Copy this link in any browser </a:t>
            </a:r>
          </a:p>
          <a:p>
            <a:r>
              <a:rPr lang="en-IN" dirty="0">
                <a:hlinkClick r:id="rId2"/>
              </a:rPr>
              <a:t>https://github.com/TERMINATOR7732/foodbridge-ai.git</a:t>
            </a:r>
            <a:br>
              <a:rPr lang="en-IN" dirty="0"/>
            </a:br>
            <a:r>
              <a:rPr lang="en-IN" dirty="0"/>
              <a:t>Step2:- Download as zip from the repository</a:t>
            </a:r>
            <a:br>
              <a:rPr lang="en-IN" dirty="0"/>
            </a:br>
            <a:r>
              <a:rPr lang="en-IN" dirty="0"/>
              <a:t>Step3:- Extract the zip file and open the folder in VS code or IBM BOB</a:t>
            </a:r>
            <a:br>
              <a:rPr lang="en-IN" dirty="0"/>
            </a:br>
            <a:r>
              <a:rPr lang="en-IN" dirty="0"/>
              <a:t>Step4:- In Terminal of vs code or IBM Bob type </a:t>
            </a:r>
            <a:r>
              <a:rPr lang="en-IN" dirty="0" err="1"/>
              <a:t>npm</a:t>
            </a:r>
            <a:r>
              <a:rPr lang="en-IN" dirty="0"/>
              <a:t> run dev.</a:t>
            </a:r>
            <a:br>
              <a:rPr lang="en-IN" dirty="0"/>
            </a:br>
            <a:r>
              <a:rPr lang="en-IN" dirty="0"/>
              <a:t>Step5:- A text will appear as localhost5173… click on that</a:t>
            </a:r>
            <a:br>
              <a:rPr lang="en-IN" dirty="0"/>
            </a:br>
            <a:r>
              <a:rPr lang="en-IN" dirty="0"/>
              <a:t>Step6:- The prototype will open and you can test it.</a:t>
            </a:r>
            <a:br>
              <a:rPr lang="en-IN" dirty="0"/>
            </a:br>
            <a:r>
              <a:rPr lang="en-IN" dirty="0"/>
              <a:t>Step7:- If any errors occur mail to </a:t>
            </a:r>
            <a:r>
              <a:rPr lang="en-IN" dirty="0">
                <a:hlinkClick r:id="rId3"/>
              </a:rPr>
              <a:t>manask.vinod@gmail.com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775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FoodBridge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A4E8DB"/>
                </a:solidFill>
                <a:latin typeface="Aptos"/>
              </a:rPr>
              <a:t>AI for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"/>
              </a:rPr>
              <a:t>Analyse safer. Match faster. Donate smarter. Measure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160520"/>
            <a:ext cx="3017520" cy="685800"/>
          </a:xfrm>
          <a:prstGeom prst="roundRect">
            <a:avLst/>
          </a:prstGeom>
          <a:solidFill>
            <a:srgbClr val="149189"/>
          </a:solidFill>
          <a:ln w="19050">
            <a:solidFill>
              <a:srgbClr val="1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800" b="0" dirty="0">
                <a:solidFill>
                  <a:srgbClr val="CDDCE2"/>
                </a:solidFill>
                <a:latin typeface="Aptos"/>
              </a:rPr>
              <a:t>-Manas Kulkarni</a:t>
            </a:r>
            <a:endParaRPr sz="1800" b="0" dirty="0">
              <a:solidFill>
                <a:srgbClr val="CDDCE2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1171</Words>
  <Application>Microsoft Office PowerPoint</Application>
  <PresentationFormat>Widescreen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 KULKARNI</cp:lastModifiedBy>
  <cp:revision>10</cp:revision>
  <dcterms:created xsi:type="dcterms:W3CDTF">2013-01-27T09:14:16Z</dcterms:created>
  <dcterms:modified xsi:type="dcterms:W3CDTF">2026-09-17T07:18:51Z</dcterms:modified>
  <cp:category/>
</cp:coreProperties>
</file>